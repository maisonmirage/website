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HAUTE PÂTISSERIE TROMPE-L'ŒIL · MARSEILLE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Maison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Mirage.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2286000" cy="0"/>
          </a:xfrm>
          <a:prstGeom prst="line">
            <a:avLst/>
          </a:prstGeom>
          <a:noFill/>
          <a:ln w="6350">
            <a:solidFill>
              <a:srgbClr val="A88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A7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Ce que vous voyez n'est jamais ce que vous goûtez.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C282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034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KIT DE PROSPECTION TERRAIN  ·  MARS 2026  ·  CONFIDENTIEL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SOMMES-NOUS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L'Art de </a:t>
            </a:r>
            <a:pPr indent="0" marL="0">
              <a:buNone/>
            </a:pPr>
            <a:r>
              <a:rPr lang="en-US" sz="36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l'Illusion.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Maison Mirage est une maison de haute pâtisserie trompe-l'œil basée à Marseille. Chaque création est une sculpture comestible — une illusion parfaite qui se révèle à la découpe. L'effet de surprise est garanti.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Établissements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partenaires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0" y="31089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Taux 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renouvellement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54880" y="31089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5j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Conservation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chambre froide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766560" y="31089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6j/7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Livraison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réfrigérée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PRODUIT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 desserts que vos clients </a:t>
            </a:r>
            <a:pPr indent="0" marL="0">
              <a:buNone/>
            </a:pPr>
            <a:r>
              <a:rPr lang="en-US" sz="32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filment avant de manger.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54864" cy="123444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Trompe-l'œil parfait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Chaque pièce imite un fruit réel avec une précision millimétrique. L'illusion est totale.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920240"/>
            <a:ext cx="54864" cy="123444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Prêt à servir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Sortez 15 min avant le service. Aucune préparation, aucun dressage nécessaire.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337560"/>
            <a:ext cx="54864" cy="123444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9 saveurs signature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Fraise, Mangue, Citron, Pêche, Framboise, Passion, Cacao, Arachide, Vanille.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33756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337560"/>
            <a:ext cx="54864" cy="123444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Création sur-mesure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3840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Moule exclusif et recette dédiée pour intégrer l'ADN de votre établissement.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TARIFS PROFESSIONNELS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 marges de </a:t>
            </a:r>
            <a:pPr indent="0" marL="0">
              <a:buNone/>
            </a:pPr>
            <a:r>
              <a:rPr lang="en-US" sz="3200" i="1" dirty="0">
                <a:solidFill>
                  <a:srgbClr val="C9AA7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80% à 180%.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468880" cy="1920240"/>
          </a:xfrm>
          <a:prstGeom prst="rect">
            <a:avLst/>
          </a:prstGeom>
          <a:solidFill>
            <a:srgbClr val="2C282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50 pièces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/pièce HT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468880" cy="1920240"/>
          </a:xfrm>
          <a:prstGeom prst="rect">
            <a:avLst/>
          </a:prstGeom>
          <a:solidFill>
            <a:srgbClr val="2C282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Dès 50 pièces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5,50€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/pièce HT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468880" cy="1920240"/>
          </a:xfrm>
          <a:prstGeom prst="rect">
            <a:avLst/>
          </a:prstGeom>
          <a:solidFill>
            <a:srgbClr val="A8895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2C2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Dès 100 pièces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5€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28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/pièce HT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2C282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F5E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EXEMPLE :  Achat 5€/pièce  →  Revente carte 12€  →  Marge 7€/pièce soit 140%  →  50 pièces/sem = 1 400€ de marge/mois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ILS NOUS FONT CONFIANCE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Ce qu'ils </a:t>
            </a:r>
            <a:pPr indent="0" marL="0">
              <a:buNone/>
            </a:pPr>
            <a:r>
              <a:rPr lang="en-US" sz="32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disent.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" cy="91440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+35% de marge dessert dès le 1er mois. Le Moment Mirage a transformé notre carte. 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Karim B.  —  Gérant · L'Avenue Grill, Marseille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88920"/>
            <a:ext cx="54864" cy="91440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803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Mes clients filment avant de manger. Le bouche-à-oreille est devenu viral. 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Yassine M.  —  Fondateur · Full Dessert, Marseille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31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La qualité gustative est au niveau de l'illusion visuelle. Exceptionnel. 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891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Mehdi A.  —  Chef Pâtissier · Royal Pâtisserie, Marignane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INCLUS DANS CHAQUE COMMANDE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Zéro risque. </a:t>
            </a:r>
            <a:pPr indent="0" marL="0">
              <a:buNone/>
            </a:pPr>
            <a:r>
              <a:rPr lang="en-US" sz="32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Zéro engagement.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Livraison réfrigérée 6j/7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Coursiers spécialisés, directement en chambre froide.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74720" y="1828800"/>
            <a:ext cx="24688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011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Remplacement gratuit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7033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Pièce endommagée = remplacement sous 24h, à nos frais.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17920" y="1828800"/>
            <a:ext cx="24688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116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Support WhatsApp 7j/7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465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 interlocuteur dédié, réactif et disponible.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31520" y="3337560"/>
            <a:ext cx="24688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204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Conseil de présentation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601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vous accompagne pour le service et la mise en scène.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474720" y="3337560"/>
            <a:ext cx="24688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5204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Dégustation gratuite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7033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se déplace chez vous pour faire goûter votre équipe.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217920" y="3337560"/>
            <a:ext cx="24688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5204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4652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Aucun engagement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4465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 de contrat, pas de minimum mensuel. Liberté totale.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Scripts &amp;
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C9AA7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Objections.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Les phrases qui ouvrent les portes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et les réponses qui lèvent les freins.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 D'ACCROCHE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Les phrases qui </a:t>
            </a:r>
            <a:pPr indent="0" marL="0">
              <a:buNone/>
            </a:pPr>
            <a:r>
              <a:rPr lang="en-US" sz="28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ouvrent les portes.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105156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0876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APPEL TÉLÉPHONIQUE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« Bonjour [Prénom], je suis [Nom] de Maison Mirage. On fournit des desserts trompe-l'œil à [Nom d'un partenaire connu]. Ils ont vu +35% sur leur marge dessert. Est-ce que je peux passer vous faire goûter ? C'est gratuit et sans engagement. 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06040"/>
            <a:ext cx="54864" cy="105156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9748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PASSAGE EN DIRECT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« Bonjour, je suis [Nom] de Maison Mirage — on fait des desserts qui ressemblent à des vrais fruits. Tenez, regardez. [Montrer une pièce ou une photo]. On fournit [partenaire local]. Est-ce que le gérant est disponible 2 minutes ? 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94760"/>
            <a:ext cx="54864" cy="1051560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862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 LINKEDIN / DM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« [Prénom], j'ai vu votre carte — elle a du caractère. On travaille avec des restaurants comme le vôtre sur un concept qui fait exploser le bouche-à-oreille : des desserts trompe-l'œil que les clients filment avant de manger. Je peux passer vous faire goûter ? »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RÉPONSES AUX OBJECTIONS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Chaque frein a </a:t>
            </a:r>
            <a:pPr indent="0" marL="0">
              <a:buNone/>
            </a:pPr>
            <a:r>
              <a:rPr lang="en-US" sz="28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 réponse.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657600" cy="62179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990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C'est trop cher pour nous 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26280" y="1325880"/>
            <a:ext cx="3886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3716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Vous achetez à 5€, vous revendez 12€. C'est 140% de marge — plus que n'importe quel dessert fait maison. Et zéro coût de main-d'œuvre pâtissier.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3657600" cy="62179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122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On fait déjà nos desserts 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039112"/>
            <a:ext cx="3886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0848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Parfait — c'est un complément, pas un remplacement. Un seul trompe-l'œil en tête de carte suffit à créer le buzz Instagram. Vos clients filment, partagent, reviennent.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752344"/>
            <a:ext cx="3657600" cy="62179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254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5 jours de conservation, c'est court 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2752344"/>
            <a:ext cx="3886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7980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C'est l'inverse d'un problème : c'est la preuve de fraîcheur. Et avec la livraison 6j/7, vous commandez au fil de l'eau. Zéro stock, zéro gâchis.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465576"/>
            <a:ext cx="3657600" cy="62179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38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Je ne connais pas votre marque 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3465576"/>
            <a:ext cx="3886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351129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Normal, on est jeune — mais nos 15+ partenaires ont tous renouvelé dès le 1er mois. Goûtez, et vous comprendrez pourquoi. La dégustation est gratuite.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178808"/>
            <a:ext cx="3657600" cy="62179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519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« Mes clients ne sont pas le genre... 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4178808"/>
            <a:ext cx="3886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422452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Tous les profils photographient un trompe-l'œil. L'effet de surprise est universel. Testez avec 10 pièces — c'est 50€. Si ça ne marche pas, on en reste là.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Fiche
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C9AA7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Terrain.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page à imprimer et laisser au prospect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après chaque rendez-vous.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Maison Mirage.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3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HAUTE PÂTISSERIE TROMPE-L'ŒIL · MARSEILLE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E8D5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Ce que vous voyez n'est jamais ce que vous goûtez.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 desserts spectaculaires que vos clients photographient, partagent et recommandent. Livrés prêts à servir, 6j/7, en chambre froide.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50 pièces : 6€/pce    ·    Dès 50 : 5,50€/pce    ·    Dès 100 : 5€/pce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INCLUS DANS CHAQUE COMMANDE</a:t>
            </a:r>
            <a:endParaRPr lang="en-US" sz="6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35808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Livraison réfrigérée 6j/7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035808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9472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Remplacement gratuit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3273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Support WhatsApp 7j/7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9184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19472" y="3273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Dégustation gratuite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4787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4672" y="35295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Conseil de présentation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47872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9472" y="35295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Zéro engagement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548640" y="388620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777240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</a:t>
            </a:r>
            <a:endParaRPr lang="en-US" sz="6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51960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5156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+33 (0)6 22 35 65 75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498848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51560" y="4471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contact@lamaisonmirage.com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251960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0352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@maisonmirage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4498848"/>
            <a:ext cx="164592" cy="16459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03520" y="4471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lamaisonmirage.com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Process &amp;
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rgbClr val="C9AA7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Checklist.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 la prise de contact à la première livraison 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chaque étape, chaque action, chaque deadline.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PROCESS DE A À Z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 étapes vers le </a:t>
            </a:r>
            <a:pPr indent="0" marL="0">
              <a:buNone/>
            </a:pPr>
            <a:r>
              <a:rPr lang="en-US" sz="28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partenariat.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00200"/>
            <a:ext cx="411480" cy="411480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Repérer les restaurants sans pâtissier en interne. Consulter leur carte en ligne. Noter le type, la capacité, le positionnement.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600200"/>
            <a:ext cx="411480" cy="411480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Prise de contact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Appel ou passage direct. Utiliser le script adapté. Objectif : décrocher un RDV dégustation.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00200"/>
            <a:ext cx="411480" cy="411480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Dégustation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 déplacer avec 3-5 pièces. Laisser goûter l'équipe. Expliquer le concept, les marges, la logistique.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Proposition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Envoyer un devis personnalisé sous 24h. Inclure la simulation de marge. Relancer à J+3.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320040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0" y="3383280"/>
            <a:ext cx="411480" cy="411480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Première commande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4160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Livraison test. Accompagner la mise en service. Former le staff à la présentation. Photo in-situ.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383280"/>
            <a:ext cx="411480" cy="411480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Suivi &amp; fidélisation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160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56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Appel de satisfaction à J+7. Intégrer au Mirage Club. Proposer les nouvelles collections.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CHECKLIST AVANT CHAQUE RDV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 rien </a:t>
            </a:r>
            <a:pPr indent="0" marL="0">
              <a:buNone/>
            </a:pPr>
            <a:r>
              <a:rPr lang="en-US" sz="2800" i="1" dirty="0">
                <a:solidFill>
                  <a:srgbClr val="A8895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oublier.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41148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MATÉRIEL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8424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3-5 pièces trompe-l'œil en glacière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860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Couteau de découpe (révélation)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7296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Serviettes, assiettes de présentation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6732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Cartes de visite + fiches terrain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474720" y="137160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474720" y="1371600"/>
            <a:ext cx="2468880" cy="41148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7" name="Text 11"/>
          <p:cNvSpPr/>
          <p:nvPr/>
        </p:nvSpPr>
        <p:spPr>
          <a:xfrm>
            <a:off x="34747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PRÉPARATION</a:t>
            </a:r>
            <a:endParaRPr lang="en-US" sz="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98424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3192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Carte du restaurant étudiée</a:t>
            </a:r>
            <a:endParaRPr lang="en-US" sz="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57860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3192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Nom du gérant / décideur identifié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17296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319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Script d'accroche adapté au profil</a:t>
            </a:r>
            <a:endParaRPr lang="en-US" sz="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76732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9319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Partenaire de référence dans le quartier</a:t>
            </a:r>
            <a:endParaRPr lang="en-US" sz="950" dirty="0"/>
          </a:p>
        </p:txBody>
      </p:sp>
      <p:sp>
        <p:nvSpPr>
          <p:cNvPr id="26" name="Shape 16"/>
          <p:cNvSpPr/>
          <p:nvPr/>
        </p:nvSpPr>
        <p:spPr>
          <a:xfrm>
            <a:off x="6217920" y="137160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6217920" y="1371600"/>
            <a:ext cx="2468880" cy="41148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8" name="Text 18"/>
          <p:cNvSpPr/>
          <p:nvPr/>
        </p:nvSpPr>
        <p:spPr>
          <a:xfrm>
            <a:off x="62179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A889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APRÈS LE RDV</a:t>
            </a:r>
            <a:endParaRPr lang="en-US" sz="7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984248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67512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Devis envoyé sous 24h max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578608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67512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Photo des pièces laissées (preuve)</a:t>
            </a:r>
            <a:endParaRPr lang="en-US" sz="9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172968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6751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Note dans le CRM / tableau de suivi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767328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6751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Relance planifiée à J+3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A88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AF5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Vivez le </a:t>
            </a:r>
            <a:pPr algn="ctr" indent="0" marL="0">
              <a:buNone/>
            </a:pPr>
            <a:r>
              <a:rPr lang="en-US" sz="5200" i="1" dirty="0">
                <a:solidFill>
                  <a:srgbClr val="C9AA7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Mirage.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AF5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+33 (0)6 22 35 65 75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contact@lamaisonmirage.com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6B656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LAMAISONMIRAGE.COM  ·  @MAISONMIRAGE  ·  #MOMENTMIRAGE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de Prospection Terrain — Maison Mirage</dc:title>
  <dc:subject>PptxGenJS Presentation</dc:subject>
  <dc:creator>Maison Mirage</dc:creator>
  <cp:lastModifiedBy>Maison Mirage</cp:lastModifiedBy>
  <cp:revision>1</cp:revision>
  <dcterms:created xsi:type="dcterms:W3CDTF">2026-03-12T04:56:16Z</dcterms:created>
  <dcterms:modified xsi:type="dcterms:W3CDTF">2026-03-12T04:56:16Z</dcterms:modified>
</cp:coreProperties>
</file>