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MAISON MIRAGE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Laboratoire de Pâtisserie Premium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Investisseur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 — Confidentiel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L'Opportunité de Marché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10972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Md€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pâtisserie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artisanale premium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10972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+8-12%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 premium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51560"/>
            <a:ext cx="2560320" cy="10972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réseaux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sociaux (TikTok/Instagram)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clés: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Trompe-l'œil viral — contenu Instagram/TikTok haute-résolution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 Dubaï — inspiration internationale, ticket moyen 8-15€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food sucrée revisitée — authentique + contemporain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sensorielle — cuisson live pour engagement 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MARCHÉ: Peu de labos centralisés multi-produits fournissant plusieurs points de vente premium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Vision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laboratoire central de production qui alimente un réseau de boutiques premium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463040" cy="73152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60320" y="2423160"/>
            <a:ext cx="1463040" cy="73152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423160"/>
            <a:ext cx="1463040" cy="73152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Boutiques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(1→N)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0" y="2423160"/>
            <a:ext cx="1463040" cy="73152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Cuisson/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Place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clés: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constante — processus standardisé et audit HACCP dès J1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optimisés — économies d'échelle matières premières + équipements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525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— même labo, plus de boutiques, pas de doubling investissement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Gamme Produits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Brute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Trompe-l'œil 3D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labo + montage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Tiramisu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labo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 classique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labo (bain-marie)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Pancakes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Pâte labo → cuisson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Crêpes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Pâte labo → cuisson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4-7€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Tartelettes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+ garnitures labo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 Dubaï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labo + décor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Cookies assortis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Pâtons congelés → cuisson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Modèle Économique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Lancement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boutiques propres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CA/mois: ~20K€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lab: ~14.6K€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(73% marge)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Croissance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boutiques + B2B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CA/mois: ~50K€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lab: ~36.5K€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(73% marge)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Revenu: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 propres (retail direct) — 70% revenue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021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hôtels &amp; restaurants — 20% revenue (volumes stables, marges 60-65%)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962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Événementiel &amp; catering — 10% revenue (marge 55-60%, saisonnalité)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9709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future (années 3+) — droit d'entrée + redevance 5% CA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Laboratoire — Specs Techniques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Superficie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m² optimisés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× 5m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circulaire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417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boutiques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~8-10K€ CA/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par boutique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 dès J1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professionnel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9.2/10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IFS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Zones de Production: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5176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matières premières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926080"/>
            <a:ext cx="265176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préparation &amp; pesée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65176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cuisson (fourneaux + fours)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2926080"/>
            <a:ext cx="265176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assemblage &amp; décor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265176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froid (frigos + congélateurs)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931920"/>
            <a:ext cx="265176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emballage &amp; expédition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931920"/>
            <a:ext cx="265176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nettoyage &amp; outils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clés: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ventilé + four pâtisserie • Mélangeur professionnel • Chaîne de froid (-18° / +4°) • Friteuse • Robot cuisine • Armoires froides à vue • Système nettoyage vapeur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Investissement Requis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10972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55-70K€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total 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10972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Mois 8-10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atteint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51560"/>
            <a:ext cx="2560320" cy="10972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Flexible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possible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(Prêt + capital)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du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Aménagement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15-30K€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Équipements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30-48K€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BFR + stock départ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lancement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Aménagement inclut loyer 3 mois avancés + caution. Structure du financement à définir avec l'investisseur (apport/prêt).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Mois 1-12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 lancées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200-240K€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annuel Phase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 moyenne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Mois 8-10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13232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Boutique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Boutique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Labo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 à -4K€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 à +2K€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M5-7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4-6K€/mois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Mois 12-24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 opérationnelles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600K€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annuel Phase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15-20K€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 mensuel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 pâtissier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13232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labo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opérationnels Phase 2: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mensuel cible: ~50K€ (10K€ × 5 boutiques)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8072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Embauche 2ème pâtissier en M12-14 (croissance charge: ~2K€/mois)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19125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fixes labo: ~14K€/mois (loyer 1.5K + salaires 10K + énergie 1K + divers 1.5K)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57530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 lab: ~73% sur 50K€ CA = ~36.5K€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59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d'exploitation: ~22.5K€/mois (avant charges de structure)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continue: optimisation processus, réduction coûts matières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Mois 24-36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 opérationnelles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1.2M€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annuel Phase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30-40K€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 mensuel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2011680" cy="9144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4-5 personnes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13232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labo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d'expansion Phase 3: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Déménagement labo Phase 3: 80-120m² (capacité 2-3x plus élevée)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8072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CA: 100K€/mois (10-12K€ × 8-10 boutiques + B2B renforcé)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19125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fixes révisées: ~22K€/mois (plus grand local + équipe plus grande)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57530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Rentabilité: ~1.8M€ revenue annuel, ~30-40K€ profit mensuel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59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franchise: modèle proof-of-concept validé à 10 boutiques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sortie 3 ans: valeur estimée 180-300K€ (3-5x multiple sur investissement)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Courbe de Croissance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0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1-6: 2-10K€/mois (1-2 boutiques)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31520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7-12: 10-20K€/mois (2-3 boutiques)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00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13-24: 20-50K€/mois (3-5 boutiques)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731520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17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25-36: 50-100K€/mois (5-10 boutiques)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atteint Mois 8-10 avec 2 boutiques • Scalabilité démontrée avec labo Phase 1 inchangé jusqu'à Mois 12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projection: 100K€ CA mensuel avec 8-10 boutiques opérationnelles. Option franchise dès Mois 24+ avec modèle validé.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 sur Investissement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10972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50-70%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sur 12 mois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(investissement 60K€)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10972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80-120%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(Taux rendement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interne) 36 mois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51560"/>
            <a:ext cx="2560320" cy="10972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43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1755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sortie 3 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(multiple EBITDA)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Cash Flow Progression: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1024128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94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19659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-60K€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65960" y="2423160"/>
            <a:ext cx="1024128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965960" y="3794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-35K€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743200"/>
            <a:ext cx="1024128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3794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514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743200"/>
            <a:ext cx="1024128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794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514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743200"/>
            <a:ext cx="1024128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794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514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145K€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35240" y="2743200"/>
            <a:ext cx="1024128" cy="2926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3794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35240" y="2514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320K€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7772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Cumulé (K€)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 Compétitifs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78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Centralisée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constante via processus standardisés vs artisans indépendants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78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Multi-produits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portefeuille + upsell; résilience vs mono-produit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0233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130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Cuisson Live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Crêpes, pancakes, cookies cuits sur place = contenu social media viral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40233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130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Trompe-l'œil Viral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 3D Instagram-worthy = acquisition client organique gratuite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182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HACCP Jour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dès lancement = crédibilité + accès B2B hôtels/restaurants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0233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182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Scalabilité Prouvée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labo, +boutiques = pas de doublement capex; marges stables 73%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Croissance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6400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247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T0-T6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99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boutiques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051560"/>
            <a:ext cx="6949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143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labo + 2 boutiques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691640"/>
            <a:ext cx="0" cy="22860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097280" cy="6400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93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T6-T12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boutiques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920240"/>
            <a:ext cx="6949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0116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 boutique + optimisation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2560320"/>
            <a:ext cx="0" cy="22860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1097280" cy="6400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620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T12-T18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36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boutiques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788920"/>
            <a:ext cx="6949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28803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4ème-5ème boutique + embauche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3429000"/>
            <a:ext cx="0" cy="22860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57600"/>
            <a:ext cx="1097280" cy="6400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T18-T24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050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boutiques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3657600"/>
            <a:ext cx="6949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749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6ème-7ème boutique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5840" y="4297680"/>
            <a:ext cx="0" cy="22860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26280"/>
            <a:ext cx="1097280" cy="6400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599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T24-T36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boutiques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4526280"/>
            <a:ext cx="6949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46177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Déménagement labo (120m²) + franchise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L'Équipe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Fondateur &amp; Manager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Karim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stratégique • Développement réseau boutiques • Relations clients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051560"/>
            <a:ext cx="40233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051560"/>
            <a:ext cx="4023360" cy="3657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Chef Pâtissier (À Recruter)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Titre à confirmer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1965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qualité • R&amp;D recettes • Formation équipe • Certifications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d'équipe planifiée: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(M12-14): +1 Pâtissier junior (appui production + apprenti)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(M24+): +2 postes (pâtissier senior + commis production + gestionnaire logistique)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Comptable (externalisé) • Graphiste réseaux sociaux (freelance) • Consultant franchise (phase 3)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Utilisation des Fonds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0972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(31K€)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840480" cy="1097280"/>
          </a:xfrm>
          <a:prstGeom prst="rect">
            <a:avLst/>
          </a:prstGeom>
          <a:solidFill>
            <a:srgbClr val="D4AF3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Aménagement (17K€)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840480" cy="109728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BFR &amp; Stock (9K€)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3840480" cy="10972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(3K€)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d'allocation (60K€ investissement):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Facteurs de Risque &amp; Mitigation</a:t>
            </a:r>
            <a:endParaRPr lang="en-US" sz="4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749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Retard d'ouverture labo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travaux phasé, marges calendrier, partenaires pré-qualifiés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Sous-fréquentation boutiques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 social media agressive + B2B hôtels dès J1 + localisation premium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Hausse matières premières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Contrats fournisseurs 12 mois fixés + ajustement tarifs boutiques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Recrutement pâtissier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écoles pâtisserie + attractivité projet scale-up + salaire compétitif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Concurrence locale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Différenciation trompe-l'œil + cuisson live + certification HACCP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 fondateur clé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processus, délégation progressive, succession plannée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Rejoignez l'Aventure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MAISON MIRAGE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Montant recherché: 60K€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12-14 mois • TRI 80-120% sur 3 ans • Structuration à définir ensemble (apport / prêt / parts)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karimdelvk@gmail.com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"Ne pas confondre vitesse et précipitation — une croissance maîtrisée vers 10 boutiques"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2026-03-17T15:22:00Z</dcterms:created>
  <dcterms:modified xsi:type="dcterms:W3CDTF">2026-03-17T15:22:00Z</dcterms:modified>
</cp:coreProperties>
</file>